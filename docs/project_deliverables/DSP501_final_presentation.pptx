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Patients</c:v>
                </c:pt>
              </c:strCache>
            </c:strRef>
          </c:tx>
          <c:spPr>
            <a:solidFill>
              <a:srgbClr val="2B7A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31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Absent</c:v>
                  </c:pt>
                  <c:pt idx="1">
                    <c:v>Present</c:v>
                  </c:pt>
                  <c:pt idx="2">
                    <c:v>Unknown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695</c:v>
                </c:pt>
                <c:pt idx="1">
                  <c:v>179</c:v>
                </c:pt>
                <c:pt idx="2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31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0"/>
          <c:min val="0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D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58368"/>
            <a:ext cx="1005840" cy="54864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58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FINAL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PCG Murmur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Detection with DSP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30632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Nghiên cứu ảnh hưởng của sampling, quantization, filtering và time–frequency features trên tín hiệu phonocardiogram.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5349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CirCor DigiScope · SVM/MLP · Streamlit demo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13248" y="804672"/>
            <a:ext cx="6236208" cy="4864608"/>
          </a:xfrm>
          <a:prstGeom prst="rect">
            <a:avLst/>
          </a:prstGeom>
          <a:solidFill>
            <a:srgbClr val="FFFDF8"/>
          </a:solidFill>
          <a:ln w="15240">
            <a:solidFill>
              <a:srgbClr val="D96445"/>
            </a:solidFill>
            <a:prstDash val="solid"/>
          </a:ln>
        </p:spPr>
      </p:sp>
      <p:pic>
        <p:nvPicPr>
          <p:cNvPr id="9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5559552" y="932688"/>
            <a:ext cx="5943600" cy="4572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13248" y="5806440"/>
            <a:ext cx="6236208" cy="594360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42432" y="5971032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 → spectrum → spectrogram → prediction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toán và động lực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PCG là tín hiệu âm thanh 1D; murmur có thể làm thay đổi năng lượng, hình dạng phổ và cấu trúc theo thời gian.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5029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 file WAV phonocardiogram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 Absent / Present + xác suất lớp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Thách thức: nhiễu, sampling, bit depth và recording khác nhau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Mục tiêu: đo ảnh hưởng của DSP front-end, không chạy theo model phức tạp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720840" y="14173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20840" y="1417320"/>
            <a:ext cx="214884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15819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1D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949440" y="2075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49440" y="2368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 theo thời gian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8280" y="1417320"/>
            <a:ext cx="214884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0" y="15819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326880" y="2075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26880" y="2368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 và PSD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32461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20840" y="3246120"/>
            <a:ext cx="214884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4107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6A5C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949440" y="39044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Spectrogram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4944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Biểu diễn 2D time–frequency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098280" y="3246120"/>
            <a:ext cx="2148840" cy="15087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98280" y="3246120"/>
            <a:ext cx="2148840" cy="73152"/>
          </a:xfrm>
          <a:prstGeom prst="rect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0" y="341071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73BF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326880" y="39044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326880" y="4197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có xác suất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869680" y="2926080"/>
            <a:ext cx="0" cy="32004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672084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Từ tín hiệu 1D đến biểu diễn 2D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DATA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và cách xử lý nhãn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942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68580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bệnh nhân metadata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D964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3,163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265176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 hợp lệ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772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6A5C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kHz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61772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rate nguồn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73BF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6583680" y="1984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lỗi / missing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85800" y="2423160"/>
          <a:ext cx="47548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5897880" y="2423160"/>
            <a:ext cx="5303520" cy="3063240"/>
          </a:xfrm>
          <a:prstGeom prst="rect">
            <a:avLst>
              <a:gd name="adj" fmla="val 2388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27249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Patient-wise label handling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17920" y="324612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Absent: 695 patients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Present: 179 patients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Unknown: 68 patients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874 labeled patients dùng cho supervised training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217920" y="50749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source: PhysioNet CirCor DigiScope 1.0.3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RESEARCH DESIGN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hỏi nghiên cứu và đóng góp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9264" y="1728216"/>
            <a:ext cx="658368" cy="658368"/>
          </a:xfrm>
          <a:prstGeom prst="ellipse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8928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56232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nào tốt nhất?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856232" y="2185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· Butterworth · FIR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91072" y="14173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47104" y="1728216"/>
            <a:ext cx="658368" cy="658368"/>
          </a:xfrm>
          <a:prstGeom prst="ellipse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47104" y="18928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434072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nào hữu ích?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434072" y="2185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 · MFCC · STFT · hybrid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3232" y="34747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9264" y="3785616"/>
            <a:ext cx="658368" cy="658368"/>
          </a:xfrm>
          <a:prstGeom prst="ellipse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264" y="39502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856232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có bền với thay đổi?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856232" y="4242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· bit depth · noise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91072" y="3474720"/>
            <a:ext cx="5074920" cy="1554480"/>
          </a:xfrm>
          <a:prstGeom prst="rect">
            <a:avLst>
              <a:gd name="adj" fmla="val 4706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3785616"/>
            <a:ext cx="658368" cy="658368"/>
          </a:xfrm>
          <a:prstGeom prst="ellipse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39502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434072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nào đủ tốt?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434072" y="4242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baseline · MLP neural baseline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Đóng góp cốt lõi: biến ảnh hưởng của từng khối DSP thành bằng chứng định lượng và trực quan.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DSP SETUP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Cấu hình DSP chính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120640" cy="4297680"/>
          </a:xfrm>
          <a:prstGeom prst="rect">
            <a:avLst>
              <a:gd name="adj" fmla="val 1702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configuration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22860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fs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2900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kHz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87552" y="259689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788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7889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bit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7552" y="309981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32918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Band-pass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29000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25–400 Hz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87552" y="360273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3794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29000" y="3794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 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7552" y="410565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2976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2900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1.5 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87552" y="460857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800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2900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Butterworth IIR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87552" y="5111496"/>
            <a:ext cx="416052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1417320"/>
            <a:ext cx="4983480" cy="1828800"/>
          </a:xfrm>
          <a:prstGeom prst="rect">
            <a:avLst>
              <a:gd name="adj" fmla="val 4000"/>
            </a:avLst>
          </a:prstGeom>
          <a:solidFill>
            <a:srgbClr val="E6FFFB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737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Vì sao 1 kHz đủ?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37960" y="2240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Dải quan tâm 25–400 Hz nằm dưới Nyquist 500 Hz của tín hiệu 1 kHz.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217920" y="3520440"/>
            <a:ext cx="4983480" cy="2194560"/>
          </a:xfrm>
          <a:prstGeom prst="rect">
            <a:avLst>
              <a:gd name="adj" fmla="val 3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840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 về quantization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37960" y="4343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 depth thấp làm mất biến thiên biên độ nhỏ → thay đổi spectral features → giảm macro-F1.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METHOD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DSP end-to-end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7607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+ mono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5623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6596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3911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Resample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3911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1/2/4 kHz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1927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0215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0215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8/12/16 bit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8231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89204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96519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25–400 Hz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535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5508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2823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s / 1.5 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81812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9127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89127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 · PSD · STFT · MFCC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7143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28116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5431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35431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/ MLP / CNN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634472" y="2807208"/>
            <a:ext cx="109728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744200" y="2148840"/>
            <a:ext cx="1353312" cy="1325880"/>
          </a:xfrm>
          <a:prstGeom prst="rect">
            <a:avLst>
              <a:gd name="adj" fmla="val 4138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17352" y="24688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817352" y="29352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+ probability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51560" y="41605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Một patient vector được tạo bằng cách trung bình các window và tất cả auscultation locations của cùng bệnh nhân.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2240280" y="4983480"/>
            <a:ext cx="7635240" cy="685800"/>
          </a:xfrm>
          <a:prstGeom prst="rect">
            <a:avLst>
              <a:gd name="adj" fmla="val 5333"/>
            </a:avLst>
          </a:prstGeom>
          <a:solidFill>
            <a:srgbClr val="E8E3D7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23160" y="5202936"/>
            <a:ext cx="7269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patient leakage: all recordings of one patient stay in one split.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DSP THEORY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Từ signal 1D đến time–frequency image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4937760" cy="4251960"/>
          </a:xfrm>
          <a:prstGeom prst="rect">
            <a:avLst>
              <a:gd name="adj" fmla="val 1720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 phép biến đổi chính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87552" y="2331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X[k] = Σ x[n] · e^(−j2πkn/N)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87552" y="3063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DBA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28800" y="3063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Năng lượng theo dải tần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87552" y="37947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4B5F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2880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X(m,k) = FFT{x[n]w[n−mH]}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617720"/>
            <a:ext cx="4251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 tạo ma trận 2D time–frequency; đây là cầu nối tự nhiên sang Image Processing.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141732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17320"/>
            <a:ext cx="23317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16184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19476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· skew · kurtosis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823960" y="141732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23960" y="1417320"/>
            <a:ext cx="23317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16184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PSD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052560" y="19476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powers · entropy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17920" y="269748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697480"/>
            <a:ext cx="23317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8986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FFT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46520" y="3227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frequencies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823960" y="269748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23960" y="2697480"/>
            <a:ext cx="2331720" cy="73152"/>
          </a:xfrm>
          <a:prstGeom prst="rect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52560" y="28986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MFCC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052560" y="3227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coefficients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217920" y="3977640"/>
            <a:ext cx="2331720" cy="96012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3977640"/>
            <a:ext cx="2331720" cy="73152"/>
          </a:xfrm>
          <a:prstGeom prst="rect">
            <a:avLst/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1788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46520" y="450799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hợp toàn bộ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63640" y="5349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MobileNet pretrained frozen được giữ như baseline phụ; SVM/MLP vẫn là core DSP.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EVALUATION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Patient-wise split để tránh leakage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Một bệnh nhân có nhiều recording ở các vị trí nghe khác nhau.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6012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6596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596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180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7180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PV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977640" y="2148840"/>
            <a:ext cx="777240" cy="594360"/>
          </a:xfrm>
          <a:prstGeom prst="rect">
            <a:avLst>
              <a:gd name="adj" fmla="val 6154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77640" y="23408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29718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13918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743200" y="2743200"/>
            <a:ext cx="0" cy="182880"/>
          </a:xfrm>
          <a:prstGeom prst="line">
            <a:avLst/>
          </a:prstGeom>
          <a:noFill/>
          <a:ln w="25400">
            <a:solidFill>
              <a:srgbClr val="2B7A7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6928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54380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3524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131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418320" y="1920240"/>
            <a:ext cx="1508760" cy="1325880"/>
          </a:xfrm>
          <a:prstGeom prst="rect">
            <a:avLst>
              <a:gd name="adj" fmla="val 4138"/>
            </a:avLst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0" y="22585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132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800600" y="2578608"/>
            <a:ext cx="777240" cy="0"/>
          </a:xfrm>
          <a:prstGeom prst="line">
            <a:avLst/>
          </a:prstGeom>
          <a:noFill/>
          <a:ln w="19050">
            <a:solidFill>
              <a:srgbClr val="6D7775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715000" y="388620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Tất cả location của cùng patient nằm trong cùng một partition.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14400" y="4983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Nếu split theo recording, model có thể học “dấu vân tay” của patient thay vì murmur.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EXPERIMENT MATRIX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Thiết kế matrix thực nghiệm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 cấu hình = 3 filters × 4 feature modes × 2 classifiers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057400"/>
          <a:ext cx="7406640" cy="242316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 \ Feature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PSD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STFT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SVM/MLP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915400" y="1965960"/>
            <a:ext cx="2011680" cy="12801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15400" y="1965960"/>
            <a:ext cx="201168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0" y="213055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91440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metric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0" y="291693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915400" y="3520440"/>
            <a:ext cx="2011680" cy="12801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915400" y="3520440"/>
            <a:ext cx="201168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0" y="368503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144000" y="41788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0" y="44714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Patient-wise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915400" y="5074920"/>
            <a:ext cx="2011680" cy="91440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15400" y="5074920"/>
            <a:ext cx="201168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0" y="5276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144000" y="5605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 · fixed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960120" y="50749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Mỗi run lưu model bundle + config + metrics.json để tái lập inference.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PILOT SUBSET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matrix: hybrid + SVM dẫn đầu</a:t>
            </a:r>
            <a:endParaRPr lang="en-US" sz="3000" dirty="0"/>
          </a:p>
        </p:txBody>
      </p:sp>
      <p:pic>
        <p:nvPicPr>
          <p:cNvPr id="6" name="Image 0" descr="F:\2. Thạc sĩ\DSP\pcg_murmur_dsp\artifacts\circor_100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6537960" cy="3749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417320"/>
            <a:ext cx="3931920" cy="1325880"/>
          </a:xfrm>
          <a:prstGeom prst="rect">
            <a:avLst>
              <a:gd name="adj" fmla="val 5517"/>
            </a:avLst>
          </a:prstGeom>
          <a:solidFill>
            <a:srgbClr val="E6FFFB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6733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823960" y="160934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 0.928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7955280" y="215798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+ Butterworth/FIR + hybrid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26680" y="3063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Confusion matrix — best model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3456432"/>
          <a:ext cx="3337560" cy="1417320"/>
        </p:xfrm>
        <a:graphic>
          <a:graphicData uri="http://schemas.openxmlformats.org/drawingml/2006/table">
            <a:tbl>
              <a:tblPr/>
              <a:tblGrid>
                <a:gridCol w="114300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Pred A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Pred 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Actual A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Actual P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7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7726680" y="521208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subset 100 patients · Accuracy 0.933 · Balanced accuracy 0.950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· NATIVE BENCHMARK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Full-cohort benchmark: sampling &amp; quantization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Cùng SVM + Butterworth + hybrid · seed 42 · patient-wise split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7543800" cy="4160520"/>
        </p:xfrm>
        <a:graphic>
          <a:graphicData uri="http://schemas.openxmlformats.org/drawingml/2006/table">
            <a:tbl>
              <a:tblPr/>
              <a:tblGrid>
                <a:gridCol w="2331720"/>
                <a:gridCol w="1143000"/>
                <a:gridCol w="1325880"/>
                <a:gridCol w="1234440"/>
                <a:gridCol w="1325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Configuration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(s)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× vs 1 kHz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85.8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1.00×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0.615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98.4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1.15×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+ 16-bit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122.8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1.43×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none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126.9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1.48×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0.780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+ 8-bit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128.7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1.50×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0.765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kHz + 12-bit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126.3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1.47×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0.630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1691640"/>
            <a:ext cx="278892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49640" y="1691640"/>
            <a:ext cx="27889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85623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85.8 s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8778240" y="23500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baseline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778240" y="264261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kHz + 16-bit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49640" y="3246120"/>
            <a:ext cx="278892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49640" y="3246120"/>
            <a:ext cx="27889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78240" y="34107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0.637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8778240" y="39044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Macro-F1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778240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kHz + no extra quantization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49640" y="4800600"/>
            <a:ext cx="278892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49640" y="4800600"/>
            <a:ext cx="27889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78240" y="50017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778240" y="533095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kHz costs ≈43–48% more time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60533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942 metadata patients · 3,163 WAV · 874 labeled · split 611 / 131 / 132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· FULL MATRIX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Full-data matrix: model × filter × feature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fs = 1 kHz · quantization = 16-bit · seed 42 · test = 132 patients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8092440" cy="4343400"/>
        </p:xfrm>
        <a:graphic>
          <a:graphicData uri="http://schemas.openxmlformats.org/drawingml/2006/table">
            <a:tbl>
              <a:tblPr/>
              <a:tblGrid>
                <a:gridCol w="1051560"/>
                <a:gridCol w="1508760"/>
                <a:gridCol w="1554480"/>
                <a:gridCol w="1234440"/>
                <a:gridCol w="150876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Model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Feature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Balanced acc.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MLP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0.657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0.693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MLP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0.664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0.765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0.646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0.659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MFCC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0.628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SVM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Hybrid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0.615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006840" y="1691640"/>
            <a:ext cx="224028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006840" y="1691640"/>
            <a:ext cx="224028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0" y="18562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0.693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9235440" y="235000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Macro-F1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235440" y="2642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MLP + none + MFCC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006840" y="3246120"/>
            <a:ext cx="2240280" cy="132588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006840" y="3246120"/>
            <a:ext cx="224028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35440" y="341071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0.664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235440" y="390448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balanced acc.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235440" y="419709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SVM + none + hybrid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006840" y="4800600"/>
            <a:ext cx="224028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06840" y="4800600"/>
            <a:ext cx="224028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35440" y="50017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Cảnh báo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235440" y="533095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Present: 9/27 đúng ở best F1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61264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Không filter thắng trong split này; cần nhiều seed trước khi kết luận ưu thế tổng quát.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· CNN SECONDARY BASELINE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Pretrained MobileNetV3-Small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Absent/Present · 1 kHz · 16-bit · seed 42 · split 611 / 131 / 132 · frozen ImageNet backbone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7589520" cy="3154680"/>
        </p:xfrm>
        <a:graphic>
          <a:graphicData uri="http://schemas.openxmlformats.org/drawingml/2006/table">
            <a:tbl>
              <a:tblPr/>
              <a:tblGrid>
                <a:gridCol w="2560320"/>
                <a:gridCol w="1554480"/>
                <a:gridCol w="1828800"/>
                <a:gridCol w="16459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Filter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Accuracy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Balanced acc.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DF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Macro-F1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49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None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0.841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0.749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0.752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Butterworth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0.826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0.698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0.712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0.864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0.777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31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0.784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1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1783080"/>
            <a:ext cx="2788920" cy="123444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49640" y="1783080"/>
            <a:ext cx="278892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0" y="194767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0.864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8778240" y="2441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CNN Accuracy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778240" y="273405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49640" y="3246120"/>
            <a:ext cx="2788920" cy="123444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49640" y="3246120"/>
            <a:ext cx="278892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78240" y="341071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0.777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8778240" y="39044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Balanced acc.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778240" y="419709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49640" y="4709160"/>
            <a:ext cx="278892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49640" y="4709160"/>
            <a:ext cx="278892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78240" y="49103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Macro-F1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778240" y="523951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 · 0.784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85800" y="5532120"/>
            <a:ext cx="7726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dùng log-STFT + mean patient aggregation; đây là secondary baseline, không thay thế câu hỏi DSP chính.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· PILOT ROBUSTNESS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robustness: quantization và noise</a:t>
            </a:r>
            <a:endParaRPr lang="en-US" sz="3000" dirty="0"/>
          </a:p>
        </p:txBody>
      </p:sp>
      <p:pic>
        <p:nvPicPr>
          <p:cNvPr id="6" name="Image 0" descr="F:\2. Thạc sĩ\DSP\pcg_murmur_dsp\artifacts\circor_100_robust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7315200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75320" y="141732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5320" y="1417320"/>
            <a:ext cx="2880360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15819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0.928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8503920" y="207568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Sampling 1/2/4 kHz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03920" y="236829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 gần như không đổi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75320" y="269748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2697480"/>
            <a:ext cx="2880360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03920" y="28620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D964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0.732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8503920" y="33558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Quantization 8-bit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03920" y="364845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Mất độ phân giải biên độ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3977640"/>
            <a:ext cx="2880360" cy="1051560"/>
          </a:xfrm>
          <a:prstGeom prst="rect">
            <a:avLst/>
          </a:prstGeom>
          <a:solidFill>
            <a:srgbClr val="FFFDF8"/>
          </a:solidFill>
          <a:ln w="10160">
            <a:solidFill>
              <a:srgbClr val="C8C1B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3977640"/>
            <a:ext cx="2880360" cy="73152"/>
          </a:xfrm>
          <a:prstGeom prst="rect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503920" y="414223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6A5C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0.796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8503920" y="46360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Pink / impulse noise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503920" y="4928616"/>
            <a:ext cx="2514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3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Suy giảm mạnh hơn white noise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5577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Interpretation: giữ đúng dải tần là cần thiết, nhưng bit depth và loại nhiễu quyết định độ bền của feature.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· SIGNAL + IMAGE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Signal-level analysis: từ waveform đến spectrogram</a:t>
            </a:r>
            <a:endParaRPr lang="en-US" sz="3000" dirty="0"/>
          </a:p>
        </p:txBody>
      </p:sp>
      <p:pic>
        <p:nvPicPr>
          <p:cNvPr id="6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25880"/>
            <a:ext cx="66751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417320"/>
            <a:ext cx="3657600" cy="3977640"/>
          </a:xfrm>
          <a:prstGeom prst="rect">
            <a:avLst>
              <a:gd name="adj" fmla="val 2000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737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Cách đọc hình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955280" y="2331720"/>
            <a:ext cx="28346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Waveform: transient và nhịp tim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FFT: thành phần tần số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PSD: năng lượng theo band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STFT: năng lượng thay đổi theo thời gian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Spectrogram là biểu diễn 2D cho phần Image Processing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47365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Điểm nhấn: model không chỉ “nhìn” raw audio; nó sử dụng các đặc trưng được giải thích bằng DSP.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64040" y="2560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/ FIELD REPORT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1792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3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 demo và kịch bản trình diễn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6968" y="1847088"/>
            <a:ext cx="530352" cy="530352"/>
          </a:xfrm>
          <a:prstGeom prst="ellipse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Upload WAV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Chọn một recording PCG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017520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47288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847088"/>
            <a:ext cx="530352" cy="530352"/>
          </a:xfrm>
          <a:prstGeom prst="ellipse">
            <a:avLst/>
          </a:prstGeom>
          <a:solidFill>
            <a:srgbClr val="D96445"/>
          </a:solidFill>
          <a:ln w="12700">
            <a:solidFill>
              <a:srgbClr val="D964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48456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15968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15968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Chạy đúng DSP pipeline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79008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08776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944" y="1847088"/>
            <a:ext cx="530352" cy="530352"/>
          </a:xfrm>
          <a:prstGeom prst="ellipse">
            <a:avLst/>
          </a:prstGeom>
          <a:solidFill>
            <a:srgbClr val="6A5C8A"/>
          </a:solidFill>
          <a:ln w="12700">
            <a:solidFill>
              <a:srgbClr val="6A5C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77456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77456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Waveform · FFT · PSD · STFT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540496" y="2221992"/>
            <a:ext cx="429768" cy="0"/>
          </a:xfrm>
          <a:prstGeom prst="line">
            <a:avLst/>
          </a:prstGeom>
          <a:noFill/>
          <a:ln w="19050">
            <a:solidFill>
              <a:srgbClr val="C8C1B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970264" y="1508760"/>
            <a:ext cx="2331720" cy="1417320"/>
          </a:xfrm>
          <a:prstGeom prst="rect">
            <a:avLst>
              <a:gd name="adj" fmla="val 3871"/>
            </a:avLst>
          </a:prstGeom>
          <a:solidFill>
            <a:srgbClr val="FFFDF8"/>
          </a:solidFill>
          <a:ln w="12700">
            <a:solidFill>
              <a:srgbClr val="C8C1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71432" y="1847088"/>
            <a:ext cx="530352" cy="530352"/>
          </a:xfrm>
          <a:prstGeom prst="ellipse">
            <a:avLst/>
          </a:prstGeom>
          <a:solidFill>
            <a:srgbClr val="73BFB8"/>
          </a:solidFill>
          <a:ln w="12700">
            <a:solidFill>
              <a:srgbClr val="73BF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71432" y="2002536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38944" y="18105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1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38944" y="22128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+ probabilities</a:t>
            </a:r>
            <a:endParaRPr lang="en-US" sz="1200" dirty="0"/>
          </a:p>
        </p:txBody>
      </p:sp>
      <p:pic>
        <p:nvPicPr>
          <p:cNvPr id="29" name="Image 0" descr="F:\2. Thạc sĩ\DSP\pcg_murmur_dsp\artifacts\circor_100_signal_report\signal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5440680" cy="233172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6446520" y="3429000"/>
            <a:ext cx="4709160" cy="2331720"/>
          </a:xfrm>
          <a:prstGeom prst="rect">
            <a:avLst>
              <a:gd name="adj" fmla="val 3137"/>
            </a:avLst>
          </a:prstGeom>
          <a:solidFill>
            <a:srgbClr val="1D3D49"/>
          </a:solidFill>
          <a:ln w="12700">
            <a:solidFill>
              <a:srgbClr val="1D3D4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6656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Kịch bản nói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6766560" y="4224528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“Đây là raw PCG và các biểu diễn sau DSP.”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“Tôi đổi 16-bit sang 8-bit để kiểm tra robustness.”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“Model đã train trước; FE chỉ inference, không train lại.”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E6FF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“Đây là research prototype, không phải diagnosis.”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31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LUẬN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front-end quyết định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độ bền của hệ thống.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880360"/>
            <a:ext cx="5669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benchmark: 1 kHz nhanh nhất; 4 kHz + none đạt Macro-F1 0.637 trong split hiện tại.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MobileNet frozen + FIR đạt binary Macro-F1 0.784; giữ như baseline phụ.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Pipeline, model bundle và Streamlit FE đã chạy end-to-end.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Bước tiếp theo: nhiều seed, segmentation-aware features, calibration.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995160" y="1143000"/>
            <a:ext cx="4206240" cy="3611880"/>
          </a:xfrm>
          <a:prstGeom prst="rect">
            <a:avLst>
              <a:gd name="adj" fmla="val 2025"/>
            </a:avLst>
          </a:prstGeom>
          <a:solidFill>
            <a:srgbClr val="17324D"/>
          </a:solidFill>
          <a:ln w="12700">
            <a:solidFill>
              <a:srgbClr val="2C52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60920" y="1508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DBA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Hạn chế cần nói rõ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60920" y="20574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training release 942 bệnh nhân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set 132 bệnh nhân · seed 42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Chưa clinical validation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D7E5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Chưa cycle-level segmentation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95160" y="5349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FE3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Cảm ơn · Q&amp;A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21792" y="6419088"/>
            <a:ext cx="10954512" cy="0"/>
          </a:xfrm>
          <a:prstGeom prst="line">
            <a:avLst/>
          </a:prstGeom>
          <a:noFill/>
          <a:ln w="8890">
            <a:solidFill>
              <a:srgbClr val="C8C1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DSP501 · PCG Murmur Detection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92840" y="6565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D77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DSP501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DSP501 Final Project</dc:title>
  <dc:subject>Robust PCG murmur detection with DSP</dc:subject>
  <dc:creator>DSP501 project team</dc:creator>
  <cp:lastModifiedBy>DSP501 project team</cp:lastModifiedBy>
  <cp:revision>1</cp:revision>
  <dcterms:created xsi:type="dcterms:W3CDTF">2026-08-06T14:19:43Z</dcterms:created>
  <dcterms:modified xsi:type="dcterms:W3CDTF">2026-08-06T14:19:43Z</dcterms:modified>
</cp:coreProperties>
</file>