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2B7A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1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Absent</c:v>
                  </c:pt>
                  <c:pt idx="1">
                    <c:v>Present</c:v>
                  </c:pt>
                  <c:pt idx="2">
                    <c:v>Unknown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695</c:v>
                </c:pt>
                <c:pt idx="1">
                  <c:v>179</c:v>
                </c:pt>
                <c:pt idx="2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1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"/>
          <c:min val="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D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005840" cy="54864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58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FINAL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PCG Murmur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with DSP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Nghiên cứu ảnh hưởng của sampling, quantization, filtering và time–frequency features trên tín hiệu phonocardiogram.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5349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CirCor DigiScope · SVM/MLP/CNN · Streamlit demo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13248" y="804672"/>
            <a:ext cx="6236208" cy="4864608"/>
          </a:xfrm>
          <a:prstGeom prst="rect">
            <a:avLst/>
          </a:prstGeom>
          <a:solidFill>
            <a:srgbClr val="FFFDF8"/>
          </a:solidFill>
          <a:ln w="15240">
            <a:solidFill>
              <a:srgbClr val="D96445"/>
            </a:solidFill>
            <a:prstDash val="solid"/>
          </a:ln>
        </p:spPr>
      </p:sp>
      <p:pic>
        <p:nvPicPr>
          <p:cNvPr id="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559552" y="932688"/>
            <a:ext cx="5943600" cy="4572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13248" y="5806440"/>
            <a:ext cx="6236208" cy="59436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597103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→ spectrum → spectrogram → prediction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toán và động lực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PCG là tín hiệu âm thanh 1D; murmur có thể làm thay đổi năng lượng, hình dạng phổ và cấu trúc theo thời gian.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file WAV phonocardiogram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Absent / Present + xác suất lớp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Thách thức: nhiễu, sampling, bit depth và recording khác nhau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Mục tiêu: đo ảnh hưởng của DSP front-end, không chạy theo model phức tạp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2084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1417320"/>
            <a:ext cx="214884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4944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theo thời gian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1417320"/>
            <a:ext cx="214884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2688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và PSD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0840" y="3246120"/>
            <a:ext cx="214884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94944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Spectrogram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4944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Biểu diễn 2D time–frequency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9828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3246120"/>
            <a:ext cx="214884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73BF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32688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268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có xác suất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2926080"/>
            <a:ext cx="0" cy="32004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72084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Từ tín hiệu 1D đến biểu diễn 2D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và cách xử lý nhãn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942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8580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bệnh nhân metadata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D964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3,163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265176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 hợp lệ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6A5C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kHz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61772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rate nguồn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73BF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658368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lỗi / missing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85800" y="2423160"/>
          <a:ext cx="47548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897880" y="2423160"/>
            <a:ext cx="5303520" cy="3063240"/>
          </a:xfrm>
          <a:prstGeom prst="rect">
            <a:avLst>
              <a:gd name="adj" fmla="val 2388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249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 label handling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Absent: 695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179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Unknown: 68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874 labeled patients dùng cho supervised training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17920" y="5074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source: PhysioNet CirCor DigiScope 1.0.3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RESEARCH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nghiên cứu và đóng góp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728216"/>
            <a:ext cx="658368" cy="658368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5623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nào tốt nhất?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85623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· Butterworth · FIR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9107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1728216"/>
            <a:ext cx="658368" cy="658368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710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3407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nào hữu ích?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43407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 · MFCC · STFT · hybrid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323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9264" y="3785616"/>
            <a:ext cx="658368" cy="658368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85623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có bền với thay đổi?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85623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· bit depth · noise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9107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785616"/>
            <a:ext cx="658368" cy="658368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3407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nào đủ tốt?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43407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baseline · MLP neural baseline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Đóng góp cốt lõi: biến ảnh hưởng của từng khối DSP thành bằng chứng định lượng và trực quan.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DSP 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Cấu hình DSP chính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120640" cy="4297680"/>
          </a:xfrm>
          <a:prstGeom prst="rect">
            <a:avLst>
              <a:gd name="adj" fmla="val 1702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configuration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87552" y="25968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88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788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bit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309981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291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Band-pass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87552" y="360273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794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794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 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" y="410565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297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2900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87552" y="460857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2900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 IIR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87552" y="51114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417320"/>
            <a:ext cx="4983480" cy="1828800"/>
          </a:xfrm>
          <a:prstGeom prst="rect">
            <a:avLst>
              <a:gd name="adj" fmla="val 4000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Vì sao 1 kHz đủ?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37960" y="2240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Dải quan tâm 25–400 Hz nằm dưới Nyquist 500 Hz của tín hiệu 1 kHz.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3520440"/>
            <a:ext cx="4983480" cy="2194560"/>
          </a:xfrm>
          <a:prstGeom prst="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840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về quantization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37960" y="4343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 depth thấp làm mất biến thiên biên độ nhỏ → thay đổi spectral features → giảm macro-F1.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METHOD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DSP end-to-end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60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+ mono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562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659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391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Resample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391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1/2/4 kHz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021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021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8/12/16 bit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8231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9204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6519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5508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2823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 / 1.5 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181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912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8912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· PSD · STFT · MFCC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714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811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543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3543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/ MLP / CNN optional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6344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173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8173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5156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patient vector được tạo bằng cách trung bình các window và tất cả auscultation locations của cùng bệnh nhân.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2240280" y="4983480"/>
            <a:ext cx="7635240" cy="685800"/>
          </a:xfrm>
          <a:prstGeom prst="rect">
            <a:avLst>
              <a:gd name="adj" fmla="val 5333"/>
            </a:avLst>
          </a:prstGeom>
          <a:solidFill>
            <a:srgbClr val="E8E3D7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23160" y="5202936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patient leakage: all recordings of one patient stay in one split.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DSP THEORY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Từ signal 1D đến time–frequency image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937760" cy="4251960"/>
          </a:xfrm>
          <a:prstGeom prst="rect">
            <a:avLst>
              <a:gd name="adj" fmla="val 1720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 phép biến đổi chính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X[k] = Σ x[n] · e^(−j2πkn/N)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Năng lượng theo dải tần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87552" y="3794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X(m,k) = FFT{x[n]w[n−mH]}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617720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 tạo ma trận 2D time–frequency; đây là cầu nối tự nhiên sang Image Processing.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17320"/>
            <a:ext cx="23317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· skew · kurtosis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2396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3960" y="1417320"/>
            <a:ext cx="23317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5256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powers · entropy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697480"/>
            <a:ext cx="23317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FFT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4652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frequencies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2396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23960" y="2697480"/>
            <a:ext cx="233172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5256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coefficients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977640"/>
            <a:ext cx="2331720" cy="73152"/>
          </a:xfrm>
          <a:prstGeom prst="rect">
            <a:avLst/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1788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46520" y="4507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hợp toàn bộ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chỉ là baseline bổ sung; mục tiêu chính vẫn là phân tích tác động DSP và tái lập CPU.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Patient-wise split để tránh leakage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bệnh nhân có nhiều recording ở các vị trí nghe khác nhau.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6596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180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7764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971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13918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0" y="2743200"/>
            <a:ext cx="0" cy="18288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6928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54380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131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41832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132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00600" y="2578608"/>
            <a:ext cx="777240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715000" y="388620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Tất cả location của cùng patient nằm trong cùng một partition.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14400" y="4983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split theo recording, model có thể học “dấu vân tay” của patient thay vì murmur.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EXPERIMENT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Thiết kế matrix thực nghiệm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cấu hình = 3 filters × 4 feature modes × 2 classifiers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057400"/>
          <a:ext cx="7406640" cy="242316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 \ Feature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PSD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STFT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915400" y="196596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15400" y="1965960"/>
            <a:ext cx="20116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0" y="21305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1440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metric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0" y="29169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915400" y="352044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15400" y="3520440"/>
            <a:ext cx="20116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0" y="368503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144000" y="41788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44714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15400" y="5074920"/>
            <a:ext cx="2011680" cy="91440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15400" y="5074920"/>
            <a:ext cx="20116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5605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· fixed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60120" y="5074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Mỗi run lưu model bundle + config + metrics.json để tái lập inference.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PILOT SUBSET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ONLY: hybrid + SVM dẫn đầu</a:t>
            </a:r>
            <a:endParaRPr lang="en-US" sz="3000" dirty="0"/>
          </a:p>
        </p:txBody>
      </p:sp>
      <p:pic>
        <p:nvPicPr>
          <p:cNvPr id="6" name="Image 0" descr="F:\2. Thạc sĩ\DSP\pcg_murmur_dsp\artifacts\circor_100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653796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931920" cy="1325880"/>
          </a:xfrm>
          <a:prstGeom prst="rect">
            <a:avLst>
              <a:gd name="adj" fmla="val 5517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673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23960" y="160934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955280" y="21579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Butterworth/FIR + hybrid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668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 — best model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3456432"/>
          <a:ext cx="3337560" cy="1417320"/>
        </p:xfrm>
        <a:graphic>
          <a:graphicData uri="http://schemas.openxmlformats.org/drawingml/2006/table">
            <a:tbl>
              <a:tblPr/>
              <a:tblGrid>
                <a:gridCol w="1143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7726680" y="52120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ONLY · 100 patients · not the full-cohort result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NATIVE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Full-cohort benchmark: sampling &amp; quantization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Cùng SVM + Butterworth + hybrid · seed 42 · patient-wise split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7543800" cy="416052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1325880"/>
                <a:gridCol w="123444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Configuration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(s)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× vs 1 kHz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98.4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1.15×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122.8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1.43×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none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126.9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1.48×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+ 8-bit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128.7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1.50×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+ 12-bit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1.47×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69164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69164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85623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85.8 s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3500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baseline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6426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 + 16-bit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0.637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+ no extra quantization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80060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80060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50017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3309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costs ≈43–48% more time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053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942 metadata patients · 3,163 WAV · 874 labeled · split 611 / 131 / 132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FULL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matrix: model × filter × feature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 = 1 kHz · quantization = 16-bit · seed 42 · test = 132 patients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8092440" cy="4343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554480"/>
                <a:gridCol w="1234440"/>
                <a:gridCol w="150876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0.646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006840" y="169164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06840" y="1691640"/>
            <a:ext cx="22402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0" y="18562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0.693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235440" y="23500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235440" y="2642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MLP + none + MFCC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006840" y="324612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006840" y="3246120"/>
            <a:ext cx="22402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0" y="341071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0.664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235440" y="390448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balanced acc.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23544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none + hybrid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006840" y="4800600"/>
            <a:ext cx="224028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06840" y="4800600"/>
            <a:ext cx="22402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35440" y="50017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Cảnh báo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235440" y="533095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9/27 đúng ở best F1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1264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Không filter thắng trong split này; cần nhiều seed trước khi kết luận ưu thế tổng quát.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CNN ABLATION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nhẹ: MobileNetV3-Small + log-STFT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874 labeled patients · same patient-wise split · 2 windows/recording · frozen pretrained backbone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7498080" cy="3566160"/>
        </p:xfrm>
        <a:graphic>
          <a:graphicData uri="http://schemas.openxmlformats.org/drawingml/2006/table">
            <a:tbl>
              <a:tblPr/>
              <a:tblGrid>
                <a:gridCol w="3246120"/>
                <a:gridCol w="1234440"/>
                <a:gridCol w="1417320"/>
                <a:gridCol w="1234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Aggregation / training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+ tuned threshold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0.666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Median + tuned threshold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0.833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0.689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0.710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Top-25% windows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Max window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0.543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0.536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Median + last block fine-tuned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0.680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0.708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73736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73736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90195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0.710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3957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CNN Macro-F1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68833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aggregation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0040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0040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364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0.62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8587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513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Tuned on validation only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66344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66344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48646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 stability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1937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0.688 ± 0.025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5806440"/>
            <a:ext cx="7543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luận: median ổn định hơn; max/top-25% overreact với window bất thường; unfreeze block cuối không đem lại lợi ích rõ.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PILOT ROBUSTNESS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robustness: quantization và noise</a:t>
            </a:r>
            <a:endParaRPr lang="en-US" sz="3000" dirty="0"/>
          </a:p>
        </p:txBody>
      </p:sp>
      <p:pic>
        <p:nvPicPr>
          <p:cNvPr id="6" name="Image 0" descr="F:\2. Thạc sĩ\DSP\pcg_murmur_dsp\artifacts\circor_100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31520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1732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17320"/>
            <a:ext cx="288036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5819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03920" y="2075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Sampling 1/2/4 kHz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0" y="236829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gần như không đổi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75320" y="269748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2697480"/>
            <a:ext cx="288036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28620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0.732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503920" y="3355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 8-bit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0" y="364845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Mất độ phân giải biên độ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397764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3977640"/>
            <a:ext cx="288036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03920" y="41422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0.796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503920" y="4636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Pink / impulse noise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503920" y="492861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Suy giảm mạnh hơn white noise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Interpretation: giữ đúng dải tần là cần thiết, nhưng bit depth và loại nhiễu quyết định độ bền của feature.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SIGNAL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Signal-level analysis: từ waveform đến spectrogram</a:t>
            </a:r>
            <a:endParaRPr lang="en-US" sz="3000" dirty="0"/>
          </a:p>
        </p:txBody>
      </p:sp>
      <p:pic>
        <p:nvPicPr>
          <p:cNvPr id="6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6675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657600" cy="3977640"/>
          </a:xfrm>
          <a:prstGeom prst="rect">
            <a:avLst>
              <a:gd name="adj" fmla="val 2000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Cách đọc hình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955280" y="2331720"/>
            <a:ext cx="2834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Waveform: transient và nhịp tim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FFT: thành phần tần số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PSD: năng lượng theo band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STFT: năng lượng thay đổi theo thời gian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là biểu diễn 2D cho phần Image Processing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47365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Điểm nhấn: model không chỉ “nhìn” raw audio; nó sử dụng các đặc trưng được giải thích bằng DSP.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 demo và kịch bản trình diễn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" y="1847088"/>
            <a:ext cx="530352" cy="530352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 WAV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Chọn một recording PCG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017520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47288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847088"/>
            <a:ext cx="530352" cy="530352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8456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5968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15968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Chạy đúng DSP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79008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08776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944" y="1847088"/>
            <a:ext cx="530352" cy="530352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77456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77456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· FFT · PSD · STFT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40496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70264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71432" y="1847088"/>
            <a:ext cx="530352" cy="530352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71432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38944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38944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probabilities</a:t>
            </a:r>
            <a:endParaRPr lang="en-US" sz="1200" dirty="0"/>
          </a:p>
        </p:txBody>
      </p:sp>
      <p:pic>
        <p:nvPicPr>
          <p:cNvPr id="2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5440680" cy="233172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446520" y="3429000"/>
            <a:ext cx="4709160" cy="2331720"/>
          </a:xfrm>
          <a:prstGeom prst="rect">
            <a:avLst>
              <a:gd name="adj" fmla="val 3137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6656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Kịch bản nói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6766560" y="422452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raw PCG và các biểu diễn sau DSP.”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“Tôi đổi 16-bit sang 8-bit để kiểm tra robustness.”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“FE mặc định dùng SVM; CNN chỉ là benchmark, chưa tích hợp vào app.”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research prototype, không phải diagnosis.”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31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front-end quyết định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độ bền của hệ thống.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5669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benchmark: 1 kHz nhanh nhất; 4 kHz + none đạt Macro-F1 0.637 trong split hiện tại.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frozen + median aggregation đạt Macro-F1 0.710; seed stability khoảng 0.688 ± 0.025.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Pipeline, model bundle và Streamlit FE đã chạy end-to-end.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Bước tiếp theo: segmentation-aware features và calibration.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995160" y="1143000"/>
            <a:ext cx="4206240" cy="3611880"/>
          </a:xfrm>
          <a:prstGeom prst="rect">
            <a:avLst>
              <a:gd name="adj" fmla="val 2025"/>
            </a:avLst>
          </a:prstGeom>
          <a:solidFill>
            <a:srgbClr val="17324D"/>
          </a:solidFill>
          <a:ln w="12700">
            <a:solidFill>
              <a:srgbClr val="2C52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Hạn chế cần nói rõ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60920" y="20574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training release 942 bệnh nhân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set 132 bệnh nhân · seed 42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clinical validation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cycle-level segmentation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9516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Cảm ơn · Q&amp;A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DSP501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DSP501 Final Project</dc:title>
  <dc:subject>Robust PCG murmur detection with DSP</dc:subject>
  <dc:creator>DSP501 project team</dc:creator>
  <cp:lastModifiedBy>DSP501 project team</cp:lastModifiedBy>
  <cp:revision>1</cp:revision>
  <dcterms:created xsi:type="dcterms:W3CDTF">2026-08-05T12:42:44Z</dcterms:created>
  <dcterms:modified xsi:type="dcterms:W3CDTF">2026-08-05T12:42:44Z</dcterms:modified>
</cp:coreProperties>
</file>