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2B7A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1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Absent</c:v>
                  </c:pt>
                  <c:pt idx="1">
                    <c:v>Present</c:v>
                  </c:pt>
                  <c:pt idx="2">
                    <c:v>Unknown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695</c:v>
                </c:pt>
                <c:pt idx="1">
                  <c:v>179</c:v>
                </c:pt>
                <c:pt idx="2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31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58368"/>
            <a:ext cx="1005840" cy="54864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FINAL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PCG Murmur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with DSP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30632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Nghiên cứu ảnh hưởng của sampling, quantization, filtering và time–frequency features trên tín hiệu phonocardiogram.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5349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CirCor DigiScope · SVM/MLP · Streamlit demo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13248" y="804672"/>
            <a:ext cx="6236208" cy="4864608"/>
          </a:xfrm>
          <a:prstGeom prst="rect">
            <a:avLst/>
          </a:prstGeom>
          <a:solidFill>
            <a:srgbClr val="FFFDF8"/>
          </a:solidFill>
          <a:ln w="15240">
            <a:solidFill>
              <a:srgbClr val="D96445"/>
            </a:solidFill>
            <a:prstDash val="solid"/>
          </a:ln>
        </p:spPr>
      </p:sp>
      <p:pic>
        <p:nvPicPr>
          <p:cNvPr id="9" name="Image 0" descr="F:\2. Thạc sĩ\DSP\pcg_murmur_dsp\artifacts\circor_100_signal_report\signal_report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5559552" y="932688"/>
            <a:ext cx="594360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13248" y="5806440"/>
            <a:ext cx="6236208" cy="594360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597103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→ spectrum → spectrogram → prediction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Bài toán và động lực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PCG là tín hiệu âm thanh 1D; murmur có thể làm thay đổi năng lượng, hình dạng phổ và cấu trúc theo thời gian.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file WAV phonocardiogram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Absent / Present + xác suất lớp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Thách thức: nhiễu, sampling, bit depth và recording khác nhau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tiêu: đo ảnh hưởng của DSP front-end, không chạy theo model phức tạp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20840" y="1417320"/>
            <a:ext cx="2148840" cy="15087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1417320"/>
            <a:ext cx="2148840" cy="7315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5819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949440" y="20756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3682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Waveform theo thời gian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1417320"/>
            <a:ext cx="2148840" cy="15087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1417320"/>
            <a:ext cx="2148840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15819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326880" y="20756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0" y="23682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FFT và PSD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3246120"/>
            <a:ext cx="2148840" cy="15087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3246120"/>
            <a:ext cx="2148840" cy="73152"/>
          </a:xfrm>
          <a:prstGeom prst="rect">
            <a:avLst/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4107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949440" y="39044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Spectrogram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1970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Biểu diễn 2D time–frequency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98280" y="3246120"/>
            <a:ext cx="2148840" cy="15087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3246120"/>
            <a:ext cx="2148840" cy="73152"/>
          </a:xfrm>
          <a:prstGeom prst="rect">
            <a:avLst/>
          </a:prstGeom>
          <a:solidFill>
            <a:srgbClr val="73BFB8"/>
          </a:solidFill>
          <a:ln w="12700">
            <a:solidFill>
              <a:srgbClr val="73B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34107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3B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326880" y="39044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6880" y="41970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có xác suất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69680" y="2926080"/>
            <a:ext cx="0" cy="320040"/>
          </a:xfrm>
          <a:prstGeom prst="line">
            <a:avLst/>
          </a:prstGeom>
          <a:noFill/>
          <a:ln w="19050">
            <a:solidFill>
              <a:srgbClr val="C8C1B5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72084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tín hiệu 1D đến biểu diễn 2D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và cách xử lý nhãn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942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bệnh nhân metadata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D96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3,163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265176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 hợp lệ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6A5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kHz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461772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rate nguồn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73BF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658368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lỗi / missing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85800" y="2423160"/>
          <a:ext cx="47548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5897880" y="2423160"/>
            <a:ext cx="5303520" cy="3063240"/>
          </a:xfrm>
          <a:prstGeom prst="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724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Patient-wise label handling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217920" y="324612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Absent: 695 patients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Present: 179 patients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Unknown: 68 patients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874 labeled patients dùng cho supervised training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17920" y="50749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source: PhysioNet CirCor DigiScope 1.0.3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RESEARCH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Câu hỏi nghiên cứu và đóng góp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5074920" cy="1554480"/>
          </a:xfrm>
          <a:prstGeom prst="rect">
            <a:avLst>
              <a:gd name="adj" fmla="val 4706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728216"/>
            <a:ext cx="658368" cy="658368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928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56232" y="1673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nào tốt nhất?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856232" y="2185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· Butterworth · FIR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91072" y="1417320"/>
            <a:ext cx="5074920" cy="1554480"/>
          </a:xfrm>
          <a:prstGeom prst="rect">
            <a:avLst>
              <a:gd name="adj" fmla="val 4706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47104" y="1728216"/>
            <a:ext cx="658368" cy="658368"/>
          </a:xfrm>
          <a:prstGeom prst="ellipse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8928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34072" y="1673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nào hữu ích?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34072" y="2185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PSD · MFCC · STFT · hybrid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3232" y="3474720"/>
            <a:ext cx="5074920" cy="1554480"/>
          </a:xfrm>
          <a:prstGeom prst="rect">
            <a:avLst>
              <a:gd name="adj" fmla="val 4706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" y="3785616"/>
            <a:ext cx="658368" cy="658368"/>
          </a:xfrm>
          <a:prstGeom prst="ellipse">
            <a:avLst/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950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56232" y="3730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có bền với thay đổi?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856232" y="4242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· bit depth · noise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91072" y="3474720"/>
            <a:ext cx="5074920" cy="1554480"/>
          </a:xfrm>
          <a:prstGeom prst="rect">
            <a:avLst>
              <a:gd name="adj" fmla="val 4706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7104" y="3785616"/>
            <a:ext cx="658368" cy="658368"/>
          </a:xfrm>
          <a:prstGeom prst="ellipse">
            <a:avLst/>
          </a:prstGeom>
          <a:solidFill>
            <a:srgbClr val="73BFB8"/>
          </a:solidFill>
          <a:ln w="12700">
            <a:solidFill>
              <a:srgbClr val="73B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950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34072" y="3730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nào đủ tốt?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434072" y="4242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baseline · MLP neural baseline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Đóng góp cốt lõi: biến ảnh hưởng của từng khối DSP thành bằng chứng định lượng và trực quan.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DSP 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Cấu hình DSP chính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120640" cy="4297680"/>
          </a:xfrm>
          <a:prstGeom prst="rect">
            <a:avLst>
              <a:gd name="adj" fmla="val 1702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configuration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87552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fs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kHz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87552" y="2596896"/>
            <a:ext cx="41605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88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bit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7552" y="3099816"/>
            <a:ext cx="41605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91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Band-pass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25–400 Hz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7552" y="3602736"/>
            <a:ext cx="41605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 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7552" y="4105656"/>
            <a:ext cx="41605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900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552" y="4608576"/>
            <a:ext cx="41605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800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Butterworth IIR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7552" y="5111496"/>
            <a:ext cx="416052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417320"/>
            <a:ext cx="4983480" cy="1828800"/>
          </a:xfrm>
          <a:prstGeom prst="rect">
            <a:avLst>
              <a:gd name="adj" fmla="val 4000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Vì sao 1 kHz đủ?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37960" y="2240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Dải quan tâm 25–400 Hz nằm dưới Nyquist 500 Hz của tín hiệu 1 kHz.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17920" y="3520440"/>
            <a:ext cx="4983480" cy="2194560"/>
          </a:xfrm>
          <a:prstGeom prst="rect">
            <a:avLst>
              <a:gd name="adj" fmla="val 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840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về quantization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37960" y="4343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 depth thấp làm mất biến thiên biên độ nhỏ → thay đổi spectral features → giảm macro-F1.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METHOD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DSP end-to-end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353312" cy="1325880"/>
          </a:xfrm>
          <a:prstGeom prst="rect">
            <a:avLst>
              <a:gd name="adj" fmla="val 4138"/>
            </a:avLst>
          </a:prstGeom>
          <a:solidFill>
            <a:srgbClr val="1D3D49"/>
          </a:solidFill>
          <a:ln w="12700">
            <a:solidFill>
              <a:srgbClr val="1D3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4688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6072" y="29352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+ mono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56232" y="2807208"/>
            <a:ext cx="109728" cy="0"/>
          </a:xfrm>
          <a:prstGeom prst="line">
            <a:avLst/>
          </a:prstGeom>
          <a:noFill/>
          <a:ln w="19050">
            <a:solidFill>
              <a:srgbClr val="6D777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65960" y="2148840"/>
            <a:ext cx="1353312" cy="1325880"/>
          </a:xfrm>
          <a:prstGeom prst="rect">
            <a:avLst>
              <a:gd name="adj" fmla="val 4138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24688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Resample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39112" y="29352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1/2/4 kHz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2807208"/>
            <a:ext cx="109728" cy="0"/>
          </a:xfrm>
          <a:prstGeom prst="line">
            <a:avLst/>
          </a:prstGeom>
          <a:noFill/>
          <a:ln w="19050">
            <a:solidFill>
              <a:srgbClr val="6D77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29000" y="2148840"/>
            <a:ext cx="1353312" cy="1325880"/>
          </a:xfrm>
          <a:prstGeom prst="rect">
            <a:avLst>
              <a:gd name="adj" fmla="val 4138"/>
            </a:avLst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24688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02152" y="29352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8/12/16 bit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82312" y="2807208"/>
            <a:ext cx="109728" cy="0"/>
          </a:xfrm>
          <a:prstGeom prst="line">
            <a:avLst/>
          </a:prstGeom>
          <a:noFill/>
          <a:ln w="19050">
            <a:solidFill>
              <a:srgbClr val="6D77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92040" y="2148840"/>
            <a:ext cx="1353312" cy="1325880"/>
          </a:xfrm>
          <a:prstGeom prst="rect">
            <a:avLst>
              <a:gd name="adj" fmla="val 4138"/>
            </a:avLst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4688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65192" y="29352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25–400 Hz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45352" y="2807208"/>
            <a:ext cx="109728" cy="0"/>
          </a:xfrm>
          <a:prstGeom prst="line">
            <a:avLst/>
          </a:prstGeom>
          <a:noFill/>
          <a:ln w="19050">
            <a:solidFill>
              <a:srgbClr val="6D77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55080" y="2148840"/>
            <a:ext cx="1353312" cy="1325880"/>
          </a:xfrm>
          <a:prstGeom prst="rect">
            <a:avLst>
              <a:gd name="adj" fmla="val 4138"/>
            </a:avLst>
          </a:prstGeom>
          <a:solidFill>
            <a:srgbClr val="73BFB8"/>
          </a:solidFill>
          <a:ln w="12700">
            <a:solidFill>
              <a:srgbClr val="73B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4688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28232" y="29352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 / 1.5 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08392" y="2807208"/>
            <a:ext cx="109728" cy="0"/>
          </a:xfrm>
          <a:prstGeom prst="line">
            <a:avLst/>
          </a:prstGeom>
          <a:noFill/>
          <a:ln w="19050">
            <a:solidFill>
              <a:srgbClr val="6D77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2148840"/>
            <a:ext cx="1353312" cy="1325880"/>
          </a:xfrm>
          <a:prstGeom prst="rect">
            <a:avLst>
              <a:gd name="adj" fmla="val 4138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24688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91272" y="29352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FFT · PSD · STFT · MFCC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71432" y="2807208"/>
            <a:ext cx="109728" cy="0"/>
          </a:xfrm>
          <a:prstGeom prst="line">
            <a:avLst/>
          </a:prstGeom>
          <a:noFill/>
          <a:ln w="19050">
            <a:solidFill>
              <a:srgbClr val="6D777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81160" y="2148840"/>
            <a:ext cx="1353312" cy="1325880"/>
          </a:xfrm>
          <a:prstGeom prst="rect">
            <a:avLst>
              <a:gd name="adj" fmla="val 4138"/>
            </a:avLst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24688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354312" y="29352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/ MLP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634472" y="2807208"/>
            <a:ext cx="109728" cy="0"/>
          </a:xfrm>
          <a:prstGeom prst="line">
            <a:avLst/>
          </a:prstGeom>
          <a:noFill/>
          <a:ln w="19050">
            <a:solidFill>
              <a:srgbClr val="6D777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744200" y="2148840"/>
            <a:ext cx="1353312" cy="1325880"/>
          </a:xfrm>
          <a:prstGeom prst="rect">
            <a:avLst>
              <a:gd name="adj" fmla="val 4138"/>
            </a:avLst>
          </a:prstGeom>
          <a:solidFill>
            <a:srgbClr val="1D3D49"/>
          </a:solidFill>
          <a:ln w="12700">
            <a:solidFill>
              <a:srgbClr val="1D3D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17352" y="24688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817352" y="29352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+ probability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" y="4160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patient vector được tạo bằng cách trung bình các window và tất cả auscultation locations của cùng bệnh nhân.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2240280" y="4983480"/>
            <a:ext cx="7635240" cy="685800"/>
          </a:xfrm>
          <a:prstGeom prst="rect">
            <a:avLst>
              <a:gd name="adj" fmla="val 5333"/>
            </a:avLst>
          </a:prstGeom>
          <a:solidFill>
            <a:srgbClr val="E8E3D7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5202936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patient leakage: all recordings of one patient stay in one split.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DSP THEORY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Từ signal 1D đến time–frequency image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937760" cy="4251960"/>
          </a:xfrm>
          <a:prstGeom prst="rect">
            <a:avLst>
              <a:gd name="adj" fmla="val 1720"/>
            </a:avLst>
          </a:prstGeom>
          <a:solidFill>
            <a:srgbClr val="1D3D49"/>
          </a:solidFill>
          <a:ln w="12700">
            <a:solidFill>
              <a:srgbClr val="1D3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phép biến đổi chính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F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X[k] = Σ x[n] · e^(−j2πkn/N)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3063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DBA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Năng lượng theo dải tần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3794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STFT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X(m,k) = FFT{x[n]w[n−mH]}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7552" y="46177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STFT tạo ma trận 2D time–frequency; đây là cầu nối tự nhiên sang Image Processing.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331720" cy="96012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17320"/>
            <a:ext cx="2331720" cy="7315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1947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 · skew · kurtosis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23960" y="1417320"/>
            <a:ext cx="2331720" cy="96012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417320"/>
            <a:ext cx="2331720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52560" y="1947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 powers · entropy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2697480"/>
            <a:ext cx="2331720" cy="96012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697480"/>
            <a:ext cx="2331720" cy="73152"/>
          </a:xfrm>
          <a:prstGeom prst="rect">
            <a:avLst/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898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FFT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3227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frequencies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23960" y="2697480"/>
            <a:ext cx="2331720" cy="96012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3960" y="2697480"/>
            <a:ext cx="2331720" cy="73152"/>
          </a:xfrm>
          <a:prstGeom prst="rect">
            <a:avLst/>
          </a:prstGeom>
          <a:solidFill>
            <a:srgbClr val="73BFB8"/>
          </a:solidFill>
          <a:ln w="12700">
            <a:solidFill>
              <a:srgbClr val="73BF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2898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MFCC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52560" y="3227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coefficients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3977640"/>
            <a:ext cx="2331720" cy="96012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977640"/>
            <a:ext cx="2331720" cy="73152"/>
          </a:xfrm>
          <a:prstGeom prst="rect">
            <a:avLst/>
          </a:prstGeom>
          <a:solidFill>
            <a:srgbClr val="1D3D49"/>
          </a:solidFill>
          <a:ln w="12700">
            <a:solidFill>
              <a:srgbClr val="1D3D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1788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46520" y="4507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hợp toàn bộ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5349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dùng CNN trong baseline: giữ mục tiêu là phân tích tác động DSP và tái lập CPU.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Patient-wise split để tránh leakage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bệnh nhân có nhiều recording ở các vị trí nghe khác nhau.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777240" cy="594360"/>
          </a:xfrm>
          <a:prstGeom prst="rect">
            <a:avLst>
              <a:gd name="adj" fmla="val 6154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408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65960" y="2148840"/>
            <a:ext cx="777240" cy="594360"/>
          </a:xfrm>
          <a:prstGeom prst="rect">
            <a:avLst>
              <a:gd name="adj" fmla="val 6154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3408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1800" y="2148840"/>
            <a:ext cx="777240" cy="594360"/>
          </a:xfrm>
          <a:prstGeom prst="rect">
            <a:avLst>
              <a:gd name="adj" fmla="val 6154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3408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77640" y="2148840"/>
            <a:ext cx="777240" cy="594360"/>
          </a:xfrm>
          <a:prstGeom prst="rect">
            <a:avLst>
              <a:gd name="adj" fmla="val 6154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23408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13918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0" y="2743200"/>
            <a:ext cx="0" cy="18288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0" y="1920240"/>
            <a:ext cx="1508760" cy="1325880"/>
          </a:xfrm>
          <a:prstGeom prst="rect">
            <a:avLst>
              <a:gd name="adj" fmla="val 4138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258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611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543800" y="1920240"/>
            <a:ext cx="1508760" cy="1325880"/>
          </a:xfrm>
          <a:prstGeom prst="rect">
            <a:avLst>
              <a:gd name="adj" fmla="val 4138"/>
            </a:avLst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258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131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418320" y="1920240"/>
            <a:ext cx="1508760" cy="1325880"/>
          </a:xfrm>
          <a:prstGeom prst="rect">
            <a:avLst>
              <a:gd name="adj" fmla="val 4138"/>
            </a:avLst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258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132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800600" y="2578608"/>
            <a:ext cx="777240" cy="0"/>
          </a:xfrm>
          <a:prstGeom prst="line">
            <a:avLst/>
          </a:prstGeom>
          <a:noFill/>
          <a:ln w="19050">
            <a:solidFill>
              <a:srgbClr val="6D7775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715000" y="388620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Tất cả location của cùng patient nằm trong cùng một partition.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split theo recording, model có thể học “dấu vân tay” của patient thay vì murmur.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EXPERIMENT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Thiết kế matrix thực nghiệm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cấu hình = 3 filters × 4 feature modes × 2 classifiers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2057400"/>
          <a:ext cx="7406640" cy="242316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Filter \ Feature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PSD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MFCC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STFT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Butterworth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SVM/MLP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915400" y="1965960"/>
            <a:ext cx="2011680" cy="12801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15400" y="1965960"/>
            <a:ext cx="2011680" cy="7315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0" y="21305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91440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metric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0" y="29169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915400" y="3520440"/>
            <a:ext cx="2011680" cy="12801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15400" y="3520440"/>
            <a:ext cx="2011680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0" y="36850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144000" y="4178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0" y="44714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Patient-wise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915400" y="5074920"/>
            <a:ext cx="2011680" cy="91440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15400" y="5074920"/>
            <a:ext cx="2011680" cy="73152"/>
          </a:xfrm>
          <a:prstGeom prst="rect">
            <a:avLst/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0" y="5276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0" y="5605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· fixed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60120" y="5074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run lưu model bundle + config + metrics.json để tái lập inference.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PILOT SUBSET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matrix: hybrid + SVM dẫn đầu</a:t>
            </a:r>
            <a:endParaRPr lang="en-US" sz="3000" dirty="0"/>
          </a:p>
        </p:txBody>
      </p:sp>
      <p:pic>
        <p:nvPicPr>
          <p:cNvPr id="6" name="Image 0" descr="F:\2. Thạc sĩ\DSP\pcg_murmur_dsp\artifacts\circor_100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653796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417320"/>
            <a:ext cx="3931920" cy="1325880"/>
          </a:xfrm>
          <a:prstGeom prst="rect">
            <a:avLst>
              <a:gd name="adj" fmla="val 5517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673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23960" y="16093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0.928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955280" y="215798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+ Butterworth/FIR + hybrid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2668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— best model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3456432"/>
          <a:ext cx="3337560" cy="1417320"/>
        </p:xfrm>
        <a:graphic>
          <a:graphicData uri="http://schemas.openxmlformats.org/drawingml/2006/table">
            <a:tbl>
              <a:tblPr/>
              <a:tblGrid>
                <a:gridCol w="114300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 A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 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Actual A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Actual 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726680" y="5212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subset 100 patients · Accuracy 0.933 · Balanced accuracy 0.950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NATIVE BENCHMARK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Full-cohort benchmark: sampling &amp; quantization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Cùng SVM + Butterworth + hybrid · seed 42 · patient-wise split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7543800" cy="416052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325880"/>
                <a:gridCol w="1234440"/>
                <a:gridCol w="1325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Configuration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(s)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× vs 1 kHz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Macro-F1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kHz + 16-bit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85.8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1.00×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0.742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0.615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kHz + 16-bit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98.4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1.15×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kHz + 16-bit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122.8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1.43×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0.773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kHz + none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126.9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1.48×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0.780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0.637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kHz + 8-bit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128.7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1.50×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0.765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0.634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kHz + 12-bit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126.3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1.47×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0.773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1691640"/>
            <a:ext cx="2788920" cy="132588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49640" y="1691640"/>
            <a:ext cx="2788920" cy="7315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185623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85.8 s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8778240" y="2350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Fastest baseline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0" y="2642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kHz + 16-bit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49640" y="3246120"/>
            <a:ext cx="2788920" cy="132588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49640" y="3246120"/>
            <a:ext cx="2788920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341071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0.637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877824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Macro-F1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778240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kHz + no extra quantization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49640" y="4800600"/>
            <a:ext cx="2788920" cy="10515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9640" y="4800600"/>
            <a:ext cx="2788920" cy="73152"/>
          </a:xfrm>
          <a:prstGeom prst="rect">
            <a:avLst/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0" y="5001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778240" y="53309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kHz costs ≈43–48% more time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" y="6053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942 metadata patients · 3,163 WAV · 874 labeled · split 611 / 131 / 132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FULL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Full-data matrix: model × filter × feature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fs = 1 kHz · quantization = 16-bit · seed 42 · test = 132 patients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8092440" cy="4343400"/>
        </p:xfrm>
        <a:graphic>
          <a:graphicData uri="http://schemas.openxmlformats.org/drawingml/2006/table">
            <a:tbl>
              <a:tblPr/>
              <a:tblGrid>
                <a:gridCol w="1051560"/>
                <a:gridCol w="1508760"/>
                <a:gridCol w="1554480"/>
                <a:gridCol w="1234440"/>
                <a:gridCol w="150876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Filter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acc.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Macro-F1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4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MFCC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0.657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0.693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0.664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0.765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MFCC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0.742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MFCC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SVM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Butterworth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0.742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0.618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31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0.615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006840" y="1691640"/>
            <a:ext cx="2240280" cy="132588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06840" y="1691640"/>
            <a:ext cx="2240280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0" y="185623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0.693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9235440" y="2350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Macro-F1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35440" y="26426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+ none + MFCC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006840" y="3246120"/>
            <a:ext cx="2240280" cy="132588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06840" y="3246120"/>
            <a:ext cx="2240280" cy="7315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0" y="34107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0.664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235440" y="39044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balanced acc.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235440" y="41970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+ none + hybrid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006840" y="4800600"/>
            <a:ext cx="2240280" cy="10515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06840" y="4800600"/>
            <a:ext cx="2240280" cy="73152"/>
          </a:xfrm>
          <a:prstGeom prst="rect">
            <a:avLst/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35440" y="5001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Cảnh báo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235440" y="53309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Present: 9/27 đúng ở best F1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" y="61264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filter thắng trong split này; cần nhiều seed trước khi kết luận ưu thế tổng quát.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PILOT ROBUSTNESS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robustness: quantization và noise</a:t>
            </a:r>
            <a:endParaRPr lang="en-US" sz="3000" dirty="0"/>
          </a:p>
        </p:txBody>
      </p:sp>
      <p:pic>
        <p:nvPicPr>
          <p:cNvPr id="6" name="Image 0" descr="F:\2. Thạc sĩ\DSP\pcg_murmur_dsp\artifacts\circor_100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31520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417320"/>
            <a:ext cx="2880360" cy="10515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5320" y="1417320"/>
            <a:ext cx="2880360" cy="73152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15819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0.928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503920" y="2075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Sampling 1/2/4 kHz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03920" y="2368296"/>
            <a:ext cx="2514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algn="l"/>
          </a:lstStyle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gần như không đổi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75320" y="2697480"/>
            <a:ext cx="2880360" cy="10515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75320" y="2697480"/>
            <a:ext cx="2880360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0" y="28620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6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8503920" y="3355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Quantization 8-bit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03920" y="3648456"/>
            <a:ext cx="2514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algn="l"/>
          </a:lstStyle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Mất độ phân giải biên độ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75320" y="3977640"/>
            <a:ext cx="2880360" cy="1051560"/>
          </a:xfrm>
          <a:prstGeom prst="rect">
            <a:avLst/>
          </a:prstGeom>
          <a:solidFill>
            <a:srgbClr val="FFFDF8"/>
          </a:solidFill>
          <a:ln w="10160">
            <a:solidFill>
              <a:srgbClr val="C8C1B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3977640"/>
            <a:ext cx="2880360" cy="73152"/>
          </a:xfrm>
          <a:prstGeom prst="rect">
            <a:avLst/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4142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A5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0.796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8503920" y="4636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Pink / impulse noise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03920" y="4928616"/>
            <a:ext cx="2514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algn="l"/>
          </a:lstStyle>
          <a:p>
            <a:pPr algn="l" indent="0" marL="0">
              <a:buNone/>
            </a:pPr>
            <a:r>
              <a:rPr lang="en-US" sz="13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Suy giảm mạnh hơn white noise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giữ đúng dải tần là cần thiết, nhưng bit depth và loại nhiễu quyết định độ bền của feature.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SIGNAL + IMAGE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Signal-level analysis: từ waveform đến spectrogram</a:t>
            </a:r>
            <a:endParaRPr lang="en-US" sz="3000" dirty="0"/>
          </a:p>
        </p:txBody>
      </p:sp>
      <p:pic>
        <p:nvPicPr>
          <p:cNvPr id="6" name="Image 0" descr="F:\2. Thạc sĩ\DSP\pcg_murmur_dsp\artifacts\circor_100_signal_report\signal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667512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417320"/>
            <a:ext cx="3657600" cy="3977640"/>
          </a:xfrm>
          <a:prstGeom prst="rect">
            <a:avLst>
              <a:gd name="adj" fmla="val 2000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đọc hình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55280" y="2331720"/>
            <a:ext cx="2834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Waveform: transient và nhịp tim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FFT: thành phần tần số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PSD: năng lượng theo band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STFT: năng lượng thay đổi theo thời gian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Spectrogram là biểu diễn 2D cho phần Image Processing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47365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nhấn: model không chỉ “nhìn” raw audio; nó sử dụng các đặc trưng được giải thích bằng DSP.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/ FIELD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 demo và kịch bản trình diễn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2331720" cy="1417320"/>
          </a:xfrm>
          <a:prstGeom prst="rect">
            <a:avLst>
              <a:gd name="adj" fmla="val 3871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847088"/>
            <a:ext cx="530352" cy="530352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0253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8105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WAV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một recording PCG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221992"/>
            <a:ext cx="429768" cy="0"/>
          </a:xfrm>
          <a:prstGeom prst="line">
            <a:avLst/>
          </a:prstGeom>
          <a:noFill/>
          <a:ln w="19050">
            <a:solidFill>
              <a:srgbClr val="C8C1B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7288" y="1508760"/>
            <a:ext cx="2331720" cy="1417320"/>
          </a:xfrm>
          <a:prstGeom prst="rect">
            <a:avLst>
              <a:gd name="adj" fmla="val 3871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1847088"/>
            <a:ext cx="530352" cy="530352"/>
          </a:xfrm>
          <a:prstGeom prst="ellipse">
            <a:avLst/>
          </a:prstGeom>
          <a:solidFill>
            <a:srgbClr val="D96445"/>
          </a:solidFill>
          <a:ln w="12700">
            <a:solidFill>
              <a:srgbClr val="D964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200253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15968" y="18105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5968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 đúng DSP pipeline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79008" y="2221992"/>
            <a:ext cx="429768" cy="0"/>
          </a:xfrm>
          <a:prstGeom prst="line">
            <a:avLst/>
          </a:prstGeom>
          <a:noFill/>
          <a:ln w="19050">
            <a:solidFill>
              <a:srgbClr val="C8C1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8776" y="1508760"/>
            <a:ext cx="2331720" cy="1417320"/>
          </a:xfrm>
          <a:prstGeom prst="rect">
            <a:avLst>
              <a:gd name="adj" fmla="val 3871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1847088"/>
            <a:ext cx="530352" cy="530352"/>
          </a:xfrm>
          <a:prstGeom prst="ellipse">
            <a:avLst/>
          </a:prstGeom>
          <a:solidFill>
            <a:srgbClr val="6A5C8A"/>
          </a:solidFill>
          <a:ln w="12700">
            <a:solidFill>
              <a:srgbClr val="6A5C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00253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77456" y="18105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77456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Waveform · FFT · PSD · STFT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0496" y="2221992"/>
            <a:ext cx="429768" cy="0"/>
          </a:xfrm>
          <a:prstGeom prst="line">
            <a:avLst/>
          </a:prstGeom>
          <a:noFill/>
          <a:ln w="19050">
            <a:solidFill>
              <a:srgbClr val="C8C1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70264" y="1508760"/>
            <a:ext cx="2331720" cy="1417320"/>
          </a:xfrm>
          <a:prstGeom prst="rect">
            <a:avLst>
              <a:gd name="adj" fmla="val 3871"/>
            </a:avLst>
          </a:prstGeom>
          <a:solidFill>
            <a:srgbClr val="FFFDF8"/>
          </a:solidFill>
          <a:ln w="12700">
            <a:solidFill>
              <a:srgbClr val="C8C1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1432" y="1847088"/>
            <a:ext cx="530352" cy="530352"/>
          </a:xfrm>
          <a:prstGeom prst="ellipse">
            <a:avLst/>
          </a:prstGeom>
          <a:solidFill>
            <a:srgbClr val="73BFB8"/>
          </a:solidFill>
          <a:ln w="12700">
            <a:solidFill>
              <a:srgbClr val="73BF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200253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38944" y="18105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1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38944" y="22128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+ probabilities</a:t>
            </a:r>
            <a:endParaRPr lang="en-US" sz="1200" dirty="0"/>
          </a:p>
        </p:txBody>
      </p:sp>
      <p:pic>
        <p:nvPicPr>
          <p:cNvPr id="29" name="Image 0" descr="F:\2. Thạc sĩ\DSP\pcg_murmur_dsp\artifacts\circor_100_signal_report\signal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429000"/>
            <a:ext cx="5440680" cy="233172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446520" y="3429000"/>
            <a:ext cx="4709160" cy="2331720"/>
          </a:xfrm>
          <a:prstGeom prst="rect">
            <a:avLst>
              <a:gd name="adj" fmla="val 3137"/>
            </a:avLst>
          </a:prstGeom>
          <a:solidFill>
            <a:srgbClr val="1D3D49"/>
          </a:solidFill>
          <a:ln w="12700">
            <a:solidFill>
              <a:srgbClr val="1D3D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6656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Kịch bản nói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6766560" y="422452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“Đây là raw PCG và các biểu diễn sau DSP.”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“Tôi đổi 16-bit sang 8-bit để kiểm tra robustness.”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“Model đã train trước; FE chỉ inference, không train lại.”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“Đây là research prototype, không phải diagnosis.”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front-end quyết định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 bền của hệ thống.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2880360"/>
            <a:ext cx="5669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benchmark: 1 kHz nhanh nhất; 4 kHz + none đạt Macro-F1 0.637 trong split hiện tại.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kHz tốn thêm khoảng 43–48% thời gian; chênh lệch điểm cần kiểm chứng nhiều seed.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Pipeline, model bundle và Streamlit FE đã chạy end-to-end.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Bước tiếp theo: nhiều seed, segmentation-aware features, calibration.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95160" y="1143000"/>
            <a:ext cx="4206240" cy="3611880"/>
          </a:xfrm>
          <a:prstGeom prst="rect">
            <a:avLst>
              <a:gd name="adj" fmla="val 2025"/>
            </a:avLst>
          </a:prstGeom>
          <a:solidFill>
            <a:srgbClr val="17324D"/>
          </a:solidFill>
          <a:ln w="12700">
            <a:solidFill>
              <a:srgbClr val="2C52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DBA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Hạn chế cần nói rõ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60920" y="20574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training release 942 bệnh nhân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set 132 bệnh nhân · seed 42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Chưa clinical validation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D7E5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Chưa cycle-level segmentation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5349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Cảm ơn · Q&amp;A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21792" y="6419088"/>
            <a:ext cx="10954512" cy="0"/>
          </a:xfrm>
          <a:prstGeom prst="line">
            <a:avLst/>
          </a:prstGeom>
          <a:noFill/>
          <a:ln w="8890">
            <a:solidFill>
              <a:srgbClr val="C8C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DSP501 · PCG Murmur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9284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D77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DSP501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DSP501 Final Project</dc:title>
  <dc:subject>Robust PCG murmur detection with DSP</dc:subject>
  <dc:creator>DSP501 project team</dc:creator>
  <cp:lastModifiedBy>DSP501 project team</cp:lastModifiedBy>
  <cp:revision>1</cp:revision>
  <dcterms:created xsi:type="dcterms:W3CDTF">2026-08-05T11:21:27Z</dcterms:created>
  <dcterms:modified xsi:type="dcterms:W3CDTF">2026-08-05T11:21:27Z</dcterms:modified>
</cp:coreProperties>
</file>